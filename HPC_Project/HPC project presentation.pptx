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2" r:id="rId13"/>
    <p:sldId id="281" r:id="rId14"/>
    <p:sldId id="280" r:id="rId15"/>
    <p:sldId id="279" r:id="rId16"/>
    <p:sldId id="278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6" r:id="rId26"/>
    <p:sldId id="28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701"/>
  </p:normalViewPr>
  <p:slideViewPr>
    <p:cSldViewPr snapToGrid="0" snapToObjects="1">
      <p:cViewPr varScale="1">
        <p:scale>
          <a:sx n="110" d="100"/>
          <a:sy n="110" d="100"/>
        </p:scale>
        <p:origin x="56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2920" y="228600"/>
            <a:ext cx="6084551" cy="21544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FFFFF"/>
                </a:solidFill>
              </a:rPr>
              <a:t>		</a:t>
            </a:r>
          </a:p>
          <a:p>
            <a:pPr algn="l"/>
            <a:endParaRPr lang="en-US" sz="2600" b="1" dirty="0">
              <a:solidFill>
                <a:srgbClr val="FFFFFF"/>
              </a:solidFill>
            </a:endParaRPr>
          </a:p>
          <a:p>
            <a:pPr algn="l"/>
            <a:endParaRPr lang="en-US" sz="2600" b="1" dirty="0">
              <a:solidFill>
                <a:srgbClr val="FFFFFF"/>
              </a:solidFill>
            </a:endParaRPr>
          </a:p>
          <a:p>
            <a:pPr algn="l"/>
            <a:endParaRPr lang="en-US" sz="2600" b="1" dirty="0">
              <a:solidFill>
                <a:srgbClr val="FFFFFF"/>
              </a:solidFill>
            </a:endParaRPr>
          </a:p>
          <a:p>
            <a:pPr algn="l"/>
            <a:r>
              <a:rPr sz="3000" b="1" dirty="0">
                <a:solidFill>
                  <a:srgbClr val="FFFFFF"/>
                </a:solidFill>
              </a:rPr>
              <a:t>Parallelizing Neural Network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7030964" cy="20005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300" dirty="0">
                <a:solidFill>
                  <a:srgbClr val="CBD5E1"/>
                </a:solidFill>
              </a:rPr>
              <a:t>		</a:t>
            </a:r>
          </a:p>
          <a:p>
            <a:endParaRPr lang="en-US" sz="1300" dirty="0">
              <a:solidFill>
                <a:srgbClr val="CBD5E1"/>
              </a:solidFill>
            </a:endParaRPr>
          </a:p>
          <a:p>
            <a:endParaRPr lang="en-US" sz="1300" dirty="0">
              <a:solidFill>
                <a:srgbClr val="CBD5E1"/>
              </a:solidFill>
            </a:endParaRPr>
          </a:p>
          <a:p>
            <a:endParaRPr lang="en-US" sz="1300" dirty="0">
              <a:solidFill>
                <a:srgbClr val="CBD5E1"/>
              </a:solidFill>
            </a:endParaRPr>
          </a:p>
          <a:p>
            <a:endParaRPr lang="en-US" sz="1300" dirty="0">
              <a:solidFill>
                <a:srgbClr val="CBD5E1"/>
              </a:solidFill>
            </a:endParaRPr>
          </a:p>
          <a:p>
            <a:endParaRPr lang="en-US" sz="1300" dirty="0">
              <a:solidFill>
                <a:srgbClr val="CBD5E1"/>
              </a:solidFill>
            </a:endParaRPr>
          </a:p>
          <a:p>
            <a:endParaRPr lang="en-US" sz="1300" dirty="0">
              <a:solidFill>
                <a:srgbClr val="CBD5E1"/>
              </a:solidFill>
            </a:endParaRPr>
          </a:p>
          <a:p>
            <a:endParaRPr lang="en-US" sz="1300" dirty="0">
              <a:solidFill>
                <a:srgbClr val="CBD5E1"/>
              </a:solidFill>
            </a:endParaRPr>
          </a:p>
          <a:p>
            <a:r>
              <a:rPr sz="2000" dirty="0">
                <a:solidFill>
                  <a:srgbClr val="CBD5E1"/>
                </a:solidFill>
              </a:rPr>
              <a:t>Data Parallel vs Model Parallel for Scientific Regression Workloads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99C34-7CCD-AFF3-A2F8-364414D1B1C7}"/>
              </a:ext>
            </a:extLst>
          </p:cNvPr>
          <p:cNvSpPr txBox="1"/>
          <p:nvPr/>
        </p:nvSpPr>
        <p:spPr>
          <a:xfrm>
            <a:off x="530352" y="4004841"/>
            <a:ext cx="42731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Presenting By:</a:t>
            </a:r>
          </a:p>
          <a:p>
            <a:r>
              <a:rPr lang="en-US" sz="1600" dirty="0">
                <a:solidFill>
                  <a:schemeClr val="bg1"/>
                </a:solidFill>
              </a:rPr>
              <a:t>Anwith Goud Ganamaina</a:t>
            </a:r>
          </a:p>
          <a:p>
            <a:r>
              <a:rPr lang="en-US" sz="1600" dirty="0">
                <a:solidFill>
                  <a:schemeClr val="bg1"/>
                </a:solidFill>
              </a:rPr>
              <a:t>Vinaykumar Reddy </a:t>
            </a:r>
            <a:r>
              <a:rPr lang="en-US" sz="1600" dirty="0" err="1">
                <a:solidFill>
                  <a:schemeClr val="bg1"/>
                </a:solidFill>
              </a:rPr>
              <a:t>Junuthula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Hrushikesh Rahul Reddy </a:t>
            </a:r>
            <a:r>
              <a:rPr lang="en-US" sz="1600" dirty="0" err="1">
                <a:solidFill>
                  <a:schemeClr val="bg1"/>
                </a:solidFill>
              </a:rPr>
              <a:t>Tanagala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Presentation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53035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111827"/>
                </a:solidFill>
              </a:defRPr>
            </a:pPr>
            <a:r>
              <a:rPr dirty="0"/>
              <a:t>Project objective</a:t>
            </a:r>
            <a:endParaRPr lang="en-US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111827"/>
                </a:solidFill>
              </a:defRPr>
            </a:pPr>
            <a:r>
              <a:rPr dirty="0"/>
              <a:t>Design decisions and technology stack</a:t>
            </a:r>
            <a:endParaRPr lang="en-US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111827"/>
                </a:solidFill>
              </a:defRPr>
            </a:pPr>
            <a:r>
              <a:rPr dirty="0"/>
              <a:t>Dataset generation, model architecture, and training strategies</a:t>
            </a:r>
            <a:endParaRPr lang="en-US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111827"/>
                </a:solidFill>
              </a:defRPr>
            </a:pPr>
            <a:r>
              <a:rPr dirty="0"/>
              <a:t>How experiments were run and measured</a:t>
            </a:r>
            <a:endParaRPr lang="en-US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111827"/>
                </a:solidFill>
              </a:defRPr>
            </a:pPr>
            <a:r>
              <a:rPr dirty="0"/>
              <a:t>Full results table</a:t>
            </a:r>
            <a:endParaRPr lang="en-US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111827"/>
                </a:solidFill>
              </a:defRPr>
            </a:pPr>
            <a:r>
              <a:rPr dirty="0"/>
              <a:t>All plots with visual proof</a:t>
            </a:r>
            <a:endParaRPr lang="en-US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111827"/>
                </a:solidFill>
              </a:defRPr>
            </a:pPr>
            <a:r>
              <a:rPr dirty="0"/>
              <a:t>Final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25880"/>
            <a:ext cx="4846320" cy="438912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47104" y="1399032"/>
            <a:ext cx="4572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F172A"/>
                </a:solidFill>
              </a:rPr>
              <a:t>Key answer </a:t>
            </a:r>
            <a:r>
              <a:rPr lang="en-US" sz="1600" b="1" dirty="0">
                <a:solidFill>
                  <a:srgbClr val="0F172A"/>
                </a:solidFill>
              </a:rPr>
              <a:t>we</a:t>
            </a:r>
            <a:r>
              <a:rPr sz="1600" b="1" dirty="0">
                <a:solidFill>
                  <a:srgbClr val="0F172A"/>
                </a:solidFill>
              </a:rPr>
              <a:t> will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0528" y="1709928"/>
            <a:ext cx="4645152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11827"/>
                </a:solidFill>
              </a:defRPr>
            </a:pPr>
            <a:r>
              <a:rPr dirty="0"/>
              <a:t>Data Parallel training is the best strategy for this workload.</a:t>
            </a:r>
          </a:p>
          <a:p>
            <a:pPr>
              <a:spcAft>
                <a:spcPts val="400"/>
              </a:spcAft>
              <a:defRPr sz="1700">
                <a:solidFill>
                  <a:srgbClr val="111827"/>
                </a:solidFill>
              </a:defRPr>
            </a:pPr>
            <a:r>
              <a:rPr dirty="0"/>
              <a:t>It achieves the highest throughput and the shortest training time.</a:t>
            </a:r>
          </a:p>
          <a:p>
            <a:pPr>
              <a:spcAft>
                <a:spcPts val="400"/>
              </a:spcAft>
              <a:defRPr sz="1700">
                <a:solidFill>
                  <a:srgbClr val="111827"/>
                </a:solidFill>
              </a:defRPr>
            </a:pPr>
            <a:r>
              <a:rPr dirty="0"/>
              <a:t>Model Parallel is correct, but it is much slower because communication dominates runtime.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What the project does and why it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61188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9224" y="1307592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3410712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Implement and benchmark two parallel training strategies for a regression neural network.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Compare them against a sequential baseline.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34440"/>
            <a:ext cx="3611880" cy="192024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43984" y="1307592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618488"/>
            <a:ext cx="3410712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Modern scientific datasets can exceed single-machine memory.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HPC workflows need scalable, correct, and efficient training.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34440"/>
            <a:ext cx="3611880" cy="1920240"/>
          </a:xfrm>
          <a:prstGeom prst="roundRect">
            <a:avLst/>
          </a:prstGeom>
          <a:solidFill>
            <a:srgbClr val="FFF7ED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1307592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Implemented strategies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1618488"/>
            <a:ext cx="3410712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Sequential baseline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Data Parallel (DDP + MPI)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Model Parallel (pipeline MPI)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1097280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11827"/>
                </a:solidFill>
              </a:defRPr>
            </a:pPr>
            <a:r>
              <a:rPr dirty="0"/>
              <a:t>Regression task with MSE loss on scientific-style data.</a:t>
            </a:r>
          </a:p>
          <a:p>
            <a:pPr>
              <a:spcAft>
                <a:spcPts val="400"/>
              </a:spcAft>
              <a:defRPr sz="1800">
                <a:solidFill>
                  <a:srgbClr val="111827"/>
                </a:solidFill>
              </a:defRPr>
            </a:pPr>
            <a:r>
              <a:rPr dirty="0"/>
              <a:t>Real datasets supported: Year Prediction MSD and HIGGS; synthetic fallback was also built.</a:t>
            </a:r>
          </a:p>
          <a:p>
            <a:pPr>
              <a:spcAft>
                <a:spcPts val="400"/>
              </a:spcAft>
              <a:defRPr sz="1800">
                <a:solidFill>
                  <a:srgbClr val="111827"/>
                </a:solidFill>
              </a:defRPr>
            </a:pPr>
            <a:r>
              <a:rPr dirty="0"/>
              <a:t>Hybrid MPI + OpenMP, HDF5 I/O, Caliper annotations, and optional PAPI counters were integrated.</a:t>
            </a:r>
          </a:p>
          <a:p>
            <a:pPr>
              <a:spcAft>
                <a:spcPts val="400"/>
              </a:spcAft>
              <a:defRPr sz="1800">
                <a:solidFill>
                  <a:srgbClr val="111827"/>
                </a:solidFill>
              </a:defRPr>
            </a:pPr>
            <a:r>
              <a:rPr dirty="0"/>
              <a:t>Target dataset sizes were approximately 1 GB, 5 GB, and 10 GB.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Design Decisions and Technology Choices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48640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130759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Main design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18488"/>
            <a:ext cx="5285232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PyTorch was chosen for autograd, DataLoader support, and DistributedDataParallel.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mpi4py provides explicit MPI communication required by the course.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HDF5 was chosen instead of CSV because it supports chunked reads and metadata at scale.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Synthetic data gives exact size control and reproducible experiments.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The gloo backend was used because all experiments ran on CPU rather than CUDA GPUs.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SGD was preferred over Adam for cleaner distributed-comparison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44068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64224" y="1307592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Why these choices fit the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1618488"/>
            <a:ext cx="5239512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The course specifically required explicit MPI use.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Chunked HDF5 I/O allows large dataset access without parsing entire CSV files.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CPU-only execution on a MacBook makes gloo the correct distributed backend.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Synthetic nonlinear regression data is always available even when real-data downloads fail.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The overall stack balances correctness, reproducibility, and HPC-oriented measurement.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How the System Was Built — Step by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1572768" cy="265176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993392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1. Define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78608"/>
            <a:ext cx="1371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Use regression with MSE loss for scientific prediction.</a:t>
            </a:r>
          </a:p>
        </p:txBody>
      </p:sp>
      <p:sp>
        <p:nvSpPr>
          <p:cNvPr id="6" name="Chevron 5"/>
          <p:cNvSpPr/>
          <p:nvPr/>
        </p:nvSpPr>
        <p:spPr>
          <a:xfrm>
            <a:off x="2167128" y="2743200"/>
            <a:ext cx="237744" cy="475488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41448" y="1828800"/>
            <a:ext cx="1572768" cy="265176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32888" y="1993392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2. Build data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2578608"/>
            <a:ext cx="1371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HDF5 file → Dataset → DataLoader → training loop.</a:t>
            </a:r>
          </a:p>
        </p:txBody>
      </p:sp>
      <p:sp>
        <p:nvSpPr>
          <p:cNvPr id="10" name="Chevron 9"/>
          <p:cNvSpPr/>
          <p:nvPr/>
        </p:nvSpPr>
        <p:spPr>
          <a:xfrm>
            <a:off x="4105656" y="2743200"/>
            <a:ext cx="237744" cy="475488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1572768" cy="265176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3. Validate sequential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578608"/>
            <a:ext cx="1371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Check correctness before adding parallelism.</a:t>
            </a:r>
          </a:p>
        </p:txBody>
      </p:sp>
      <p:sp>
        <p:nvSpPr>
          <p:cNvPr id="14" name="Chevron 13"/>
          <p:cNvSpPr/>
          <p:nvPr/>
        </p:nvSpPr>
        <p:spPr>
          <a:xfrm>
            <a:off x="6044184" y="2743200"/>
            <a:ext cx="237744" cy="475488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18504" y="1828800"/>
            <a:ext cx="1572768" cy="265176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4" y="1993392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4. Implement data parallel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578608"/>
            <a:ext cx="1371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Split data and synchronize gradients.</a:t>
            </a:r>
          </a:p>
        </p:txBody>
      </p:sp>
      <p:sp>
        <p:nvSpPr>
          <p:cNvPr id="18" name="Chevron 17"/>
          <p:cNvSpPr/>
          <p:nvPr/>
        </p:nvSpPr>
        <p:spPr>
          <a:xfrm>
            <a:off x="7982712" y="2743200"/>
            <a:ext cx="237744" cy="475488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57032" y="1828800"/>
            <a:ext cx="1572768" cy="265176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2" y="1993392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5. Implement model parallel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578608"/>
            <a:ext cx="13716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lang="en-US" sz="1200" b="0" dirty="0">
              <a:solidFill>
                <a:srgbClr val="111827"/>
              </a:solidFill>
            </a:endParaRPr>
          </a:p>
          <a:p>
            <a:pPr algn="l"/>
            <a:r>
              <a:rPr sz="1200" b="0" dirty="0">
                <a:solidFill>
                  <a:srgbClr val="111827"/>
                </a:solidFill>
              </a:rPr>
              <a:t>Split layers and send activations/gradients.</a:t>
            </a:r>
          </a:p>
        </p:txBody>
      </p:sp>
      <p:sp>
        <p:nvSpPr>
          <p:cNvPr id="22" name="Chevron 21"/>
          <p:cNvSpPr/>
          <p:nvPr/>
        </p:nvSpPr>
        <p:spPr>
          <a:xfrm>
            <a:off x="9921240" y="2743200"/>
            <a:ext cx="237744" cy="475488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195560" y="1828800"/>
            <a:ext cx="1572768" cy="265176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87000" y="1993392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6. Add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2578608"/>
            <a:ext cx="1371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Measure compute, I/O, communication, throughput, and memory.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Dataset Generation and Sizes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3840480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130759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Synthetic dataset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18488"/>
            <a:ext cx="3639312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Input features: 128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Output targets: 8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Nonlinear target formula: y = sin(X @ W1) @ W2 + noise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Data written in HDF5 chunks to avoid exhausting RAM during generation.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417320"/>
          <a:ext cx="3063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marL="27432" marR="2743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Samples</a:t>
                      </a:r>
                    </a:p>
                  </a:txBody>
                  <a:tcPr marL="27432" marR="2743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Approx. size</a:t>
                      </a:r>
                    </a:p>
                  </a:txBody>
                  <a:tcPr marL="27432" marR="27432" marT="18288" marB="18288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</a:rPr>
                        <a:t>1 GB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</a:rPr>
                        <a:t>2,000,000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</a:rPr>
                        <a:t>~1,038 MB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</a:rPr>
                        <a:t>5 GB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</a:rPr>
                        <a:t>10,000,000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</a:rPr>
                        <a:t>~5,188 MB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</a:rPr>
                        <a:t>10 GB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</a:rPr>
                        <a:t>20,000,000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</a:rPr>
                        <a:t>~10,376 MB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01000" y="1234440"/>
            <a:ext cx="3657600" cy="452628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47304" y="130759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Why synthetic data was important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8" y="1618488"/>
            <a:ext cx="3456432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Real data downloads can fail or change their APIs.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Synthetic data is reproducible and always available.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Exact sizes support clean scaling experiments.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The 1 GB, 5 GB, and 10 GB tiers let the project study compute-to-communication tradeoffs.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Neural Network Architecture and File Organization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2578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1307592"/>
            <a:ext cx="4983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Regression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18488"/>
            <a:ext cx="5056632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Input(128) → Linear(512) → ReLU → Linear(512) → ReLU → Linear(512) → ReLU → Linear(512) → ReLU → Output(8)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Total parameter count is about 853,000 (~3.4 MB in float32).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Four hidden layers make model splitting meaningful across multiple ranks.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No softmax or sigmoid is used because this is a regression task.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34440"/>
            <a:ext cx="562356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81344" y="1307592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Main project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1618488"/>
            <a:ext cx="5422392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generate_data.py — dataset generation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dataset.py — HDF5 dataset and DataLoader logic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model.py — regression NN and model-parallel stage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train_sequential.py, train_data_parallel.py, train_model_parallel.py — core strategies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main.py — entry point and metrics saving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analyze_performance.py — result aggregation and plot creation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Training Strategies Compared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365760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9224" y="144475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Sequential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755648"/>
            <a:ext cx="3456432" cy="3749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Single process with no inter-rank communication.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Used first to validate convergence and establish the reference runtime.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0248" y="1371600"/>
            <a:ext cx="3657600" cy="42062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16552" y="144475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Data Parallel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9976" y="1755648"/>
            <a:ext cx="3456432" cy="3749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Each MPI rank keeps a copy of the whole model.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The dataset is split across ranks.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Gradients are averaged with DistributedDataParallel after backward.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7575" y="1371600"/>
            <a:ext cx="3657600" cy="4206240"/>
          </a:xfrm>
          <a:prstGeom prst="roundRect">
            <a:avLst/>
          </a:prstGeom>
          <a:solidFill>
            <a:srgbClr val="FDF2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144475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Model Parallel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3" y="1755648"/>
            <a:ext cx="3456432" cy="3749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Different ranks own different layers of the network.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Activations move forward through the pipeline and gradients move backward.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Communication happens every batch at every stage.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Hybrid MPI + OpenMP and Performance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394960" cy="457200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1307592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Hybrid parallelism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18488"/>
            <a:ext cx="5193792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MPI gives inter-process parallelism across ranks.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OpenMP threads are used inside each rank by PyTorch BLAS operations.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Best reported setting on the 8-core Mac was 4 ranks × 2 threads.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Too few threads underutilize the CPU; too many threads cause oversubscription.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4864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18504" y="130759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Measured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1928" y="1618488"/>
            <a:ext cx="5285232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Training time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Throughput (samples/s)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Epochs per second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Speedup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Parallel efficiency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Communication fraction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Communication bytes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Memory usage</a:t>
            </a:r>
          </a:p>
          <a:p>
            <a:pPr>
              <a:spcAft>
                <a:spcPts val="400"/>
              </a:spcAft>
              <a:defRPr sz="1600">
                <a:solidFill>
                  <a:srgbClr val="111827"/>
                </a:solidFill>
              </a:defRPr>
            </a:pPr>
            <a:r>
              <a:t>Final MSE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44413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0F172A"/>
                </a:solidFill>
              </a:rPr>
              <a:t>Execution Proof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440680" cy="21031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399032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Environment setup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09928"/>
            <a:ext cx="5239512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OpenMPI was installed and verified: mpirun (Open MPI) 5.0.9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A Python virtual environment was created and activated.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All required packages were installed successfully.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The 1 GB, 5 GB, and 10 GB datasets were generated successfully.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440680" cy="210312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64224" y="1399032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Dataset generation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709928"/>
            <a:ext cx="5239512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dataset_1gb.h5 saved at 1038 MB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dataset_5gb.h5 saved at 5188 MB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dataset_10gb.h5 saved at 10376 MB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A quick sequential test run completed successfully on the 1 GB dataset.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760221"/>
              </p:ext>
            </p:extLst>
          </p:nvPr>
        </p:nvGraphicFramePr>
        <p:xfrm>
          <a:off x="3474720" y="4629295"/>
          <a:ext cx="4389120" cy="1725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1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Quick sequential test result</a:t>
                      </a:r>
                    </a:p>
                  </a:txBody>
                  <a:tcPr marL="27432" marR="2743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27432" marR="27432" marT="18288" marB="18288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157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11827"/>
                          </a:solidFill>
                        </a:rPr>
                        <a:t>Train Time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</a:rPr>
                        <a:t>12.3552 s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15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</a:rPr>
                        <a:t>Throughput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</a:rPr>
                        <a:t>161,876 samples/s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15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</a:rPr>
                        <a:t>Final MSE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</a:rPr>
                        <a:t>5.630362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15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</a:rPr>
                        <a:t>Memory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11827"/>
                          </a:solidFill>
                        </a:rPr>
                        <a:t>2212.8 MB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Complete 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551388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T</a:t>
            </a:r>
            <a:r>
              <a:rPr dirty="0"/>
              <a:t>erminal </a:t>
            </a:r>
            <a:r>
              <a:rPr lang="en-US" dirty="0"/>
              <a:t>Results</a:t>
            </a:r>
            <a:r>
              <a:rPr dirty="0"/>
              <a:t> — 1 GB dataset, 1 epoch, batch size 512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34440"/>
          <a:ext cx="833932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 marL="27432" marR="2743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Ranks</a:t>
                      </a:r>
                    </a:p>
                  </a:txBody>
                  <a:tcPr marL="27432" marR="2743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Threads</a:t>
                      </a:r>
                    </a:p>
                  </a:txBody>
                  <a:tcPr marL="27432" marR="2743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Time(s)</a:t>
                      </a:r>
                    </a:p>
                  </a:txBody>
                  <a:tcPr marL="27432" marR="2743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Epochs/s</a:t>
                      </a:r>
                    </a:p>
                  </a:txBody>
                  <a:tcPr marL="27432" marR="2743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Throughput</a:t>
                      </a:r>
                    </a:p>
                  </a:txBody>
                  <a:tcPr marL="27432" marR="2743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Comm %</a:t>
                      </a:r>
                    </a:p>
                  </a:txBody>
                  <a:tcPr marL="27432" marR="2743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Comm MB</a:t>
                      </a:r>
                    </a:p>
                  </a:txBody>
                  <a:tcPr marL="27432" marR="2743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Memory (MB)</a:t>
                      </a:r>
                    </a:p>
                  </a:txBody>
                  <a:tcPr marL="27432" marR="2743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Final MSE</a:t>
                      </a:r>
                    </a:p>
                  </a:txBody>
                  <a:tcPr marL="27432" marR="27432" marT="18288" marB="18288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Sequential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12.3552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0.0809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161,876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0.0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0.00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2212.8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5.630362</a:t>
                      </a:r>
                    </a:p>
                  </a:txBody>
                  <a:tcPr marL="27432" marR="27432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Data Parallel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14.1639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0.0706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141,204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0.0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12,786.17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1180.8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5.630282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Data Parallel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16.2824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0.0614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122,832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0.0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12,779.62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462.8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5.630786</a:t>
                      </a:r>
                    </a:p>
                  </a:txBody>
                  <a:tcPr marL="27432" marR="27432" marT="18288" marB="18288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Model Parallel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14.5885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0.0685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137,095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44.7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7,873.03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2790.0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5.630368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Model Parallel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31.9677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0.0313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62,563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68.5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23,497.03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1304.9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</a:rPr>
                        <a:t>5.630292</a:t>
                      </a:r>
                    </a:p>
                  </a:txBody>
                  <a:tcPr marL="27432" marR="27432" marT="18288" marB="18288">
                    <a:solidFill>
                      <a:srgbClr val="F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3840480"/>
            <a:ext cx="3657600" cy="173736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391363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Fastest overall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224528"/>
            <a:ext cx="3456432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Sequential 1r×1t had the shortest training time (12.3552 s) and the highest throughput (161,876 samples/s) in these 1-epoch runs.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3840480"/>
            <a:ext cx="3657600" cy="1737360"/>
          </a:xfrm>
          <a:prstGeom prst="roundRect">
            <a:avLst/>
          </a:prstGeom>
          <a:solidFill>
            <a:srgbClr val="FFF7ED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16552" y="391363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Best parallel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4224528"/>
            <a:ext cx="3456432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Among the parallel runs, Data Parallel 2r×2t performed best with 14.1639 s runtime and 141,204 samples/s throughput.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3840480"/>
            <a:ext cx="3657600" cy="173736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391363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Main bottleneck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3" y="4224528"/>
            <a:ext cx="3456432" cy="128016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r>
              <a:t>Model Parallel 4r×2t was the slowest run because communication reached 68.5% of runtime, dropping throughput to 62,563 samples/s.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Experimental Results Screenshot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Model Parallel (4r × 2t)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768096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9904871f-586b-5ddb-90d4-ec10c04be3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90" y="1097280"/>
            <a:ext cx="5964338" cy="5074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34440"/>
            <a:ext cx="3474720" cy="2926080"/>
          </a:xfrm>
          <a:prstGeom prst="roundRect">
            <a:avLst/>
          </a:prstGeom>
          <a:solidFill>
            <a:srgbClr val="FDF2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66760" y="1325880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Key values from this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8" y="1618488"/>
            <a:ext cx="3273552" cy="2450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Train Time: 31.9677 s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Throughput: 62,563 samples/s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Communication: 68.5%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Comm Data: 23,497.03 MB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Final MSE: 5.630292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480560"/>
            <a:ext cx="347472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192" y="4645152"/>
            <a:ext cx="312724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0F172A"/>
                </a:solidFill>
              </a:rPr>
              <a:t>Takeaway: This is the worst configuration because communication dominates the runtime.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Experimental Results Screenshot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Model Parallel (2r × 2t)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768096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8a30741b-f833-5ce7-9a06-3081889fcb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359" y="1097280"/>
            <a:ext cx="5477200" cy="5074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34440"/>
            <a:ext cx="3474720" cy="2926080"/>
          </a:xfrm>
          <a:prstGeom prst="roundRect">
            <a:avLst/>
          </a:prstGeom>
          <a:solidFill>
            <a:srgbClr val="FFF7ED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66760" y="1325880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Key values from this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8" y="1618488"/>
            <a:ext cx="3273552" cy="2450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Train Time: 14.5885 s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Throughput: 137,095 samples/s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Communication: 44.7%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Comm Data: 7,873.03 MB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Final MSE: 5.630368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480560"/>
            <a:ext cx="347472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192" y="4645152"/>
            <a:ext cx="312724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0F172A"/>
                </a:solidFill>
              </a:rPr>
              <a:t>Takeaway: Performance is close to Data Parallel 2r×2t, but 44.7% communication overhead is already significant.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Experimental Results Screenshot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Data Parallel (4r × 2t)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768096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7395185-b56a-5b7b-87cd-27ae23c32a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45" y="1097280"/>
            <a:ext cx="4283628" cy="5074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34440"/>
            <a:ext cx="3474720" cy="292608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66760" y="1325880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Key values from this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8" y="1618488"/>
            <a:ext cx="3273552" cy="2450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Train Time: 16.2824 s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Throughput: 122,832 samples/s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Communication: 0.0%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Comm Data: 12,779.62 MB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Final MSE: 5.630786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480560"/>
            <a:ext cx="347472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192" y="4645152"/>
            <a:ext cx="312724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0F172A"/>
                </a:solidFill>
              </a:rPr>
              <a:t>Takeaway: It is still efficient, but slower than 2r×2t on this 1-epoch MacBook run.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Experimental Results Screenshot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Data Parallel (2r × 2t)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768096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8d20f931-7ab4-5bee-9f15-a3b24fe14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538" y="1097280"/>
            <a:ext cx="4796842" cy="5074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34440"/>
            <a:ext cx="3474720" cy="292608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66760" y="1325880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Key values from this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8" y="1618488"/>
            <a:ext cx="3273552" cy="2450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Train Time: 14.1639 s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Throughput: 141,204 samples/s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Communication: 0.0%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Comm Data: 12,786.17 MB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Final MSE: 5.630282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480560"/>
            <a:ext cx="347472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192" y="4645152"/>
            <a:ext cx="312724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0F172A"/>
                </a:solidFill>
              </a:rPr>
              <a:t>Takeaway: This is the best parallel configuration among the runs shown in the screenshots.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Experimental Results Screenshot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Sequential Baseline (1r × 1t)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768096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91577a8-0bb7-59ea-94ab-662a2514a1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209" y="1097280"/>
            <a:ext cx="5517500" cy="5074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34440"/>
            <a:ext cx="3474720" cy="29260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66760" y="1325880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Key values from this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8" y="1618488"/>
            <a:ext cx="3273552" cy="2450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Train Time: 12.3552 s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Throughput: 161,876 samples/s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Communication: 0.0%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Memory: 2212.8 MB</a:t>
            </a:r>
          </a:p>
          <a:p>
            <a:pPr>
              <a:spcAft>
                <a:spcPts val="400"/>
              </a:spcAft>
              <a:defRPr sz="1400">
                <a:solidFill>
                  <a:srgbClr val="111827"/>
                </a:solidFill>
              </a:defRPr>
            </a:pPr>
            <a:r>
              <a:t>Final MSE: 5.630362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480560"/>
            <a:ext cx="347472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192" y="4645152"/>
            <a:ext cx="312724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0F172A"/>
                </a:solidFill>
              </a:rPr>
              <a:t>Takeaway: This is the fastest overall result because it avoids distributed startup and communication overhead.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Visual Proof: All Generated Plot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This slide shows the plots included in the detailed analysis section.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97280"/>
            <a:ext cx="2743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1_correc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65860"/>
            <a:ext cx="274320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3268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Correctness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097280"/>
            <a:ext cx="2743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4_throughput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474470"/>
            <a:ext cx="2743200" cy="1028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54680" y="93268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Throughput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097280"/>
            <a:ext cx="2743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0_dp_vs_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645920"/>
            <a:ext cx="2743200" cy="685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89320" y="93268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DP vs 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097280"/>
            <a:ext cx="2743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2_over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474470"/>
            <a:ext cx="2743200" cy="1028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23960" y="93268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Overhead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60" y="3703320"/>
            <a:ext cx="2743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03_scalabi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360" y="4214455"/>
            <a:ext cx="2743200" cy="7608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737360" y="3538727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Scalability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3703320"/>
            <a:ext cx="2743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05_memo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771900"/>
            <a:ext cx="2743200" cy="1645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09160" y="3538727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Memory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3703320"/>
            <a:ext cx="27432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12_comm_byt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3771900"/>
            <a:ext cx="2743200" cy="1645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80960" y="3538727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</a:rPr>
              <a:t>Comm bytes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Plot 1: Correctness Validation — Regression Loss 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This plot proves that all strategies train correctly.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63524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1_correc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98448"/>
            <a:ext cx="7635240" cy="45811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143000"/>
            <a:ext cx="3566160" cy="3154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93607" y="1527048"/>
            <a:ext cx="3364992" cy="2697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All lines converge close to MSE ≈ 5.630 by epoch 3.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The curves are very similar, so sequential, data parallel, and model parallel are mathematically consistent.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Small differences come from shuffled mini-batches and minor run-to-run variation.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Plot 2: Throughput and Epochs per Second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This plot compares overall training productivity.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63524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4_throughput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57412"/>
            <a:ext cx="7635240" cy="28632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143000"/>
            <a:ext cx="3566160" cy="3154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93607" y="1527048"/>
            <a:ext cx="3364992" cy="2697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Data Parallel 4r×2t is the highest at 127,087 samples/s.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Sequential is lower at 113,712 samples/s.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Model Parallel is lower than both, showing that its extra communication reduces effective work per second.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Plot 3: Data Parallel vs Model Parallel Side-by-Side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This figure shows how time, throughput, and communication change as ranks increase.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63524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_dp_vs_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634615"/>
            <a:ext cx="7635240" cy="190881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143000"/>
            <a:ext cx="3566160" cy="3154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93607" y="1527048"/>
            <a:ext cx="3364992" cy="2697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For Data Parallel, moving from 2 ranks to 4 ranks reduces runtime and improves throughput.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For Model Parallel, moving from 2 ranks to 4 ranks makes runtime worse and throughput lower.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Communication overhead grows sharply for Model Parallel, reaching above 70%.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Plot 4: Overhead Breakdown (Absolute and Fraction)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This plot explains where runtime is spent.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63524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2_over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57412"/>
            <a:ext cx="7635240" cy="28632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143000"/>
            <a:ext cx="3566160" cy="3154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93607" y="1527048"/>
            <a:ext cx="3364992" cy="2697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Data Parallel is compute-dominated, which is ideal.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Model Parallel is communication-dominated, especially with 4 ranks.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I/O is comparatively small, so storage access is not the main bottleneck.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Plot 5: Scalability — Speedup, Efficiency, and Efficiency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This figure evaluates how well the parallelism scales.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63524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3_sca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30226"/>
            <a:ext cx="7635240" cy="211758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143000"/>
            <a:ext cx="3566160" cy="3154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93607" y="1527048"/>
            <a:ext cx="3364992" cy="2697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Data Parallel has speedup above 1.0, so it beats the sequential baseline.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Model Parallel has speedup below 1.0, so it is slower than the baseline.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Efficiency is low because all ranks still share one laptop CPU, memory bus, and cache.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Plot 6: Memory Usage per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This plot compares memory consumption across configurations.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63524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5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98448"/>
            <a:ext cx="7635240" cy="45811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143000"/>
            <a:ext cx="3566160" cy="3154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93607" y="1527048"/>
            <a:ext cx="3364992" cy="2697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Sequential holds more data in one process.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Data Parallel reduces memory per process because each rank owns a subset of the data.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Model Parallel 2r shows higher memory because implementation details can create duplication/gather overhead.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Plot 7: Inter-Rank MPI Data Transferred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This plot measures the total communication volume.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63524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2_comm_by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98448"/>
            <a:ext cx="7635240" cy="45811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143000"/>
            <a:ext cx="3566160" cy="3154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93607" y="1527048"/>
            <a:ext cx="3364992" cy="2697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Data Parallel transfers about 38,339 MB while synchronizing gradients.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Model Parallel 4r transfers about 70,491 MB because it repeatedly sends activations and gradients.</a:t>
            </a:r>
          </a:p>
          <a:p>
            <a:pPr>
              <a:spcAft>
                <a:spcPts val="400"/>
              </a:spcAft>
              <a:defRPr sz="1500">
                <a:solidFill>
                  <a:srgbClr val="111827"/>
                </a:solidFill>
              </a:defRPr>
            </a:pPr>
            <a:r>
              <a:t>More pipeline stages create more communication hops, so MPI traffic increases rapidly.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Final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8813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FFFFFF"/>
                </a:solidFill>
              </a:defRPr>
            </a:pPr>
            <a:r>
              <a:t>For this CPU-based scientific regression workload, Data Parallel training is the best strategy.</a:t>
            </a:r>
          </a:p>
          <a:p>
            <a:pPr>
              <a:spcAft>
                <a:spcPts val="400"/>
              </a:spcAft>
              <a:defRPr sz="2100">
                <a:solidFill>
                  <a:srgbClr val="FFFFFF"/>
                </a:solidFill>
              </a:defRPr>
            </a:pPr>
            <a:r>
              <a:t>The best configuration was 4 MPI ranks with 2 OpenMP threads per rank.</a:t>
            </a:r>
          </a:p>
          <a:p>
            <a:pPr>
              <a:spcAft>
                <a:spcPts val="400"/>
              </a:spcAft>
              <a:defRPr sz="2100">
                <a:solidFill>
                  <a:srgbClr val="FFFFFF"/>
                </a:solidFill>
              </a:defRPr>
            </a:pPr>
            <a:r>
              <a:t>It produced the fastest training time and the highest throughput while preserving the same MSE as the baseline.</a:t>
            </a:r>
          </a:p>
          <a:p>
            <a:pPr>
              <a:spcAft>
                <a:spcPts val="400"/>
              </a:spcAft>
              <a:defRPr sz="2100">
                <a:solidFill>
                  <a:srgbClr val="FFFFFF"/>
                </a:solidFill>
              </a:defRPr>
            </a:pPr>
            <a:r>
              <a:t>Model Parallel was mathematically correct, but it became communication-bound and therefore slower than both Data Parallel and the sequential baseline.</a:t>
            </a:r>
          </a:p>
          <a:p>
            <a:pPr>
              <a:spcAft>
                <a:spcPts val="400"/>
              </a:spcAft>
              <a:defRPr sz="2100">
                <a:solidFill>
                  <a:srgbClr val="FFFFFF"/>
                </a:solidFill>
              </a:defRPr>
            </a:pPr>
            <a:r>
              <a:t>The plots in this PPT visually prove the conclusion: Data Parallel is compute-dominated and scalable, while Model Parallel is communication-dominated.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4C3517-7B76-EAFC-001B-89F40D30F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862B7B-10AA-BA7E-06C1-600601CED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3657600"/>
            <a:ext cx="7055893" cy="238141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	Q&amp;A ??</a:t>
            </a:r>
          </a:p>
        </p:txBody>
      </p:sp>
    </p:spTree>
    <p:extLst>
      <p:ext uri="{BB962C8B-B14F-4D97-AF65-F5344CB8AC3E}">
        <p14:creationId xmlns:p14="http://schemas.microsoft.com/office/powerpoint/2010/main" val="1058374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2021</Words>
  <Application>Microsoft Macintosh PowerPoint</Application>
  <PresentationFormat>Widescreen</PresentationFormat>
  <Paragraphs>324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Ganamaina, Anwith G</cp:lastModifiedBy>
  <cp:revision>5</cp:revision>
  <dcterms:created xsi:type="dcterms:W3CDTF">2013-01-27T09:14:16Z</dcterms:created>
  <dcterms:modified xsi:type="dcterms:W3CDTF">2026-05-06T13:35:11Z</dcterms:modified>
  <cp:category/>
</cp:coreProperties>
</file>